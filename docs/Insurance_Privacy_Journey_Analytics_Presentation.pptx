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From Operational Pain to Working Product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Legacy Insurance Claims Portal Modernised Without Stopping</a:t>
            </a:r>
            <a:br/>
            <a:r>
              <a:t>Privacy-Preserving Journey Analytics via Differential Privacy &amp; Non-Blocking Coexistence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Enterprise Proof-of-Concept &amp; Working Architecture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Strict Consent, Anonymisation, k-Anonymity (k=10), Laplace DP (ε &lt;= 1.0)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Zero-Downtime Legacy Coexistence &amp; Automated Rollback State Machine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Presenter: Vaishnavi | Department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1. Problem Statement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The Friction vs. Privacy Dilemma in Insurance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Operational Reality: Policyholders encounter significant friction during complex multi-step insurance claims.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Customer Abandonment: Customers drop off mid-journey, creating backlogs and customer dissatisfaction.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The Analytical Blind Spot: Traditional analytics rely on invasive tracking (session recording, raw telemetry, reverse PII linkage).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The Core Question: Which workflow stage has the highest abandonment, without capturing invasive personal data or interrupting operations?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2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2. Business &amp; Operational Pain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Why Legacy Modernisation Often Breaks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Downtime Risk: Stopping or rewriting a core insurance claims engine risks millions in operational losses and regulatory penalties.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Tight Coupling Danger: If an analytics or telemetry layer crashes, synchronous claim submissions must NEVER be blocked.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Policyholder Friction: Long claim forms (8 distinct stages) without drop-off visibility prevent targeted UX improvements.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Compliance Pressures: Strict GDPR, HIPAA, and insurance privacy mandates prohibit storing raw customer interaction trails.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3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3. The Privacy Challenge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Preserving Customer Trust While Gaining Journey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Prohibited Ingestion: Zero storage of Names, Emails, Policy Numbers, Medical Diagnoses, or SSNs.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Linkage Attack Vulnerability: Timestamps and session IDs can be cross-referenced with server logs to de-anonymise users.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Small Cohort Risk: Reporting on small groups (e.g. 2 users in a rare claim type) allows direct re-identification.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Budget Exhaustion: Repeated aggregate queries can mathematically reconstruct exact individual records without DP budget bounds.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4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4. Proposed Modernisation Solution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Privacy-Preserving Journey Analytics with Non-Blocking Coexistence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Non-Invasive Architecture: Event Adapter taps into claims events asynchronously without blocking critical transactions.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5-Stage Privacy Shield: Consent Gate -&gt; Pseudonymisation &amp; 1hr Bucketisation -&gt; Macro Aggregation -&gt; k=10 Suppression -&gt; Laplace DP.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Guaranteed Coexistence: System operates in COEXISTENCE mode by default, gracefully falling back to LEGACY upon analytics errors.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Empirically Proven: Evaluated on 10,000 sessions (126,204 events) with 100% bottleneck identification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5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5. End-to-End System Architecture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Decoupled Claims Engine &amp; Privacy Analytics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Customer Workflow: Interacts with 8-stage Legacy Portal (Login to Confirmation).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Synchronous Critical Path: Claims &amp; documents persist directly to Legacy Database (100% isolated availability).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Asynchronous Analytics Path: Non-Blocking Event Adapter dispatches telemetry to Privacy Gateway.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Privacy Processing: Enforces Consent -&gt; Hashes Tokens (ANON-XXXX-XXXX) -&gt; Buckets Hours -&gt; Adds Laplace Noise -&gt; Feeds Streamlit 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6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6. 8-Stage Insurance Claims Workflow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Complete Journey Mapping &amp; Transition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1. Login (Authentication &amp; Consent Check) -&gt; 100% Entry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2. Start Claim (Initiation) -&gt; 98% Progression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3. Claim Type (Auto, Health, Property, Travel) -&gt; 95% Progression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4. Claim Details (Incident description &amp; date) -&gt; 88% Progression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5. Document Upload (Bills, repair estimates, police reports) -&gt; PRIMARY BOTTLENECK (34.1% Abandonment)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6. Review (Summary audit) -&gt; 92% Progression | 7. Submit -&gt; 96% Progression | 8. Confirmation -&gt;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7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7. 5-Layer Privacy Pipeline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Defense-in-Depth Privacy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Layer 1 - Ingestion Minimisation: Automatic stripping of 17 prohibited PII fields at adapter boundary.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Layer 2 - Strict Consent Gate: Default zero-consent; only explicit CONSENTED events enter aggregation.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Layer 3 - One-Way Hashing: Salted SHA-256 tokens ('ANON-XXXX-XXXX') with 1-hour temporal coarsening.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Layer 4 - k-Anonymity Suppression: Cohorts with count &lt; 10 masked with '[SUPPRESSED &lt; 10]'.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Layer 5 - Differential Privacy: Laplace Mechanism (b = 1/ε, ε &lt;= 1.0) with persistent budget ledger.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8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8. Consent &amp; Anonymisation Subsystems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Secure Defaults &amp; 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Secure Default: Any missing, null, or UNKNOWN consent is automatically REJECTED.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Audit Ledger: Tracks total received, consented count, rejected count, and rejection rate.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One-Way Session Pseudonymisation: SHA-256(SessionID || Salt) -&gt; irreversible anonymous tokens.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Timestamp Bucketisation: Coarsens exact milliseconds to nearest hour window (YYYY-MM-DD HH:00:00).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9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9. Small-Group Suppression (k-Anonymity)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Protecting Outliers &amp; Rare Cohorts (k =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Principle: Aggregation alone does not protect small sub-groups (e.g. 1 user filing high-value travel claim).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Enforcement Rule: If aggregate count &lt; 10 -&gt; mask value with '[SUPPRESSED &lt; 10]' and raise privacy notice.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Inference Resistance: Prevents reconstruction attacks across multiple intersecting cohort filters.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Verified Test Results: Count 2 -&gt; SUPPRESSED (True); Count 15 -&gt; ALLOWED (True).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10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10. Differential Privacy Mathematical Mechanism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Laplace Mechanism with Bounded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Mathematical Formulation: M(x) = TrueCount(x) + Lap(scale = Delta_f / epsilon)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Count Query Sensitivity: Delta_f = 1 (adding or removing one customer changes count by at most 1).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Configurable Epsilon Budget: Strict upper limit epsilon &lt;= 1.0 (validated bounds: 0.1 &lt;= epsilon &lt;= 1.0).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Post-Processing Guarantees: Clamps noisy counts to non-negative integers; ensures entered &gt;= completed + abandoned.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11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11. Persistent Privacy Budget Manager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Preventing Reconstruction Attacks via Budget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Persistent SQLite Ledger: Tracks Total Budget, Consumed Budget, Remaining Budget, and Query Count.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Exhaustion Defense: Deducts requested epsilon per query; throws BudgetExhaustedError when budget is depleted.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Bounds Validation: Explicitly blocks epsilon &gt; 1.0 and epsilon &lt;= 0 with InvalidEpsilonError.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State Recovery: Ledger persists across application restarts and dashboard reloads.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12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12. Non-Private Baseline vs. Privacy-Preserving Pipeline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Comparative Architectural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Non-Private Baseline: Raw Consented Events -&gt; Standard SQL Aggregation -&gt; Ground Truth Metrics.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Proposed Pipeline: Consented Events -&gt; Anonymisation -&gt; Aggregation -&gt; k=10 Suppression -&gt; Laplace DP.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Comparative Metrics: Mean Absolute Error (MAE), Mean Absolute Percentage Error (MAPE), Ranking Agreement (Spearman rho).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Zero Ground-Truth Exposure: Product teams interact exclusively with DP outputs, never raw traces.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13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13. Experimental Methodology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Rigorous Empirical Multi-Trial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Dataset Volume: 10,000 synthetic customer sessions (126,204 interaction events).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Controlled Privacy Budgets: Evaluated epsilon in {0.1, 0.25, 0.5, 0.75, 1.0}.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Statistical Robustness: 20 independent randomized trials per epsilon with varied seeds.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Automated Automation: Executed via 'python scripts/run_experiment.py --trials 20'.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14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14. Actual Measured Experimental Results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Empirical Findings from 126,204 Interaction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Ground-Truth Primary Bottleneck: Document Upload at 34.10% abandonment rate.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Top-Stage Identification Accuracy: 100.0% across all epsilon &gt;= 0.1.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Ranking Agreement (Spearman rho): 0.9967 (near-perfect workflow stage difficulty ordering).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Bottleneck Rate Absolute Error (epsilon=1.0): 0.0000 (Exact 34.10% estimated).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Average Query Runtime: 0.0666 seconds (&lt; 2.0s enterprise threshold).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15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15. Privacy-Utility Tradeoff Analysis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Balancing Noise Distortion Against Privacy Guarantees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Epsilon = 0.1 (Maximum Privacy): MAE = 0.0005, Top-Stage Accuracy = 100.0%, Ranking rho = 0.9958.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Epsilon = 0.5 (Balanced Privacy): MAE = 0.0003, Top-Stage Accuracy = 100.0%, Ranking rho = 0.9967.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Epsilon = 1.0 (Optimal Utility): MAE = 0.0000, Top-Stage Accuracy = 100.0%, Ranking rho = 0.9967.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Recommendation: Epsilon = 1.0 provides optimal rank fidelity and bottleneck discovery with provable differential privacy.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16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16. Comprehensive Failure Mode Testing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100% Pass Rate Across 8 Critical Failure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1 (Missing Consent) -&gt; Event dropped safely (PASS)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2 (Invalid Stage) -&gt; Validation failure detected (PASS)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3 (Duplicate Event) -&gt; Deduplicated idempotently (PASS)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4 (Small Group &lt;10) -&gt; Result suppressed with privacy badge (PASS)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5 (Analytics Unavailable) -&gt; Non-blocking fallback; Claims continue 100% (PASS)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6 (Budget Exhausted) -&gt; Query rejected with BudgetExhaustedError (PASS)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7 (Invalid Epsilon) -&gt; Blocked with InvalidEpsilonError (PASS)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8 (DB/Network Failure) -&gt; Claim transactions continue uninterrupted (PASS)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17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17. Legacy Coexistence &amp; Non-Blocking Adapter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Three Operating Modes (LEGACY, COEXISTENCE, MODERN)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COEXISTENCE (Default): Legacy claims portal runs synchronously; Event Adapter dispatches non-blocking telemetry.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LEGACY_FALLBACK: Analytics service errors trigger automated decoupling; legacy claims operate with zero downtime.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MODERN: Full analytics telemetry active under normal operational health.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Non-Blocking Guarantee: Event adapter wraps telemetry dispatch in robust try-catch-drop handlers.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18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18. Rollback Demonstration &amp; Availability Proof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Zero Claims Lost During Simulated Outages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Live Outage Simulation: Simulated complete analytics crash during active claim submissions.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Automated State Transition: Coexistence Controller switches instantly to LEGACY_FALLBACK.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Claims Success Rate: 100.0% of claims submitted during outage processed successfully.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Seamless Restoration: Admin one-click restoration returns system to COEXISTENCE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19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19. Enterprise Streamlit Analytics Dashboard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10 Dedicated Presentation-Ready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Overview &amp; KPIs: Total Sessions (10,000), Events (126,204), Completion Rate (50.8%), Bottleneck (Document Upload).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Journey &amp; Abandonment: Interactive Funnels, Stage Drop-off Histograms, Error Journey Analysis.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Privacy &amp; Consent Gates: Consent Ledger, Salted Token Inspection, k=10 Suppression Badges.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Baseline vs DP &amp; Tradeoff: Live Epsilon Sliders, Interactive Error Curves, Budget Ledger Status.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Failure Testing &amp; Rollback: One-click live failure injections and health status monitor.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20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20. Stakeholder &amp; User Validation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Evaluation Framework &amp; Readiness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Validation Status: 'Validation Pending - Prototype Ready for Stakeholder Testing'.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Structured Questionnaire: 7-item usability, actionability, and privacy trust survey framework.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Target Stakeholder Roles: Product Managers, Data Analysts, Compliance Officers, Claims Leads, Security Architects.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Objective Integrity: Zero fabricated survey feedback; ready for immediate live stakeholder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21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21. Limitations &amp; Edge Cases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Transparent Technical Boundary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Extreme Small Sub-Cohorts: Filtered queries with n &lt; 10 are completely masked (privacy over utility).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Strict Privacy Budget: When total epsilon = 1.0 is exhausted, queries cease until admin reset.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High Relative Error on Low-Volume Stages: Zero-actual stages exhibit noise variance under DP.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Synthetic Telemetry: Production deployment requires calibrated transition probabilities from real pilot traffic.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22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22. Future Work &amp; Production Roadmap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Next Steps for Enterprise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Local Differential Privacy (LDP): Client-side perturbation directly on mobile and browser agents.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RAPPOR / Google DP Library Integration: Transitioning from pure Python Laplace to C++ DP primitives.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Automated UX Interventions: Triggering smart document guidance prompts when upload bottlenecks are detected.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Multi-Tenant Privacy Accounting: Separate departmental budget ledgers for claims, underwriting, and marketing.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23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530"/>
                </a:solidFill>
                <a:latin typeface="Calibri"/>
              </a:defRPr>
            </a:pPr>
            <a:r>
              <a:t>23. Conclusion &amp; Key Takeaways</a:t>
            </a:r>
          </a:p>
          <a:p>
            <a:pPr>
              <a:defRPr sz="1400">
                <a:solidFill>
                  <a:srgbClr val="2980B9"/>
                </a:solidFill>
                <a:latin typeface="Calibri"/>
              </a:defRPr>
            </a:pPr>
            <a:r>
              <a:t>From Operational Pain to Working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Goal Accomplished: Successfully identified Document Upload as primary bottleneck (34.10% abandonment) with 100% accuracy.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Privacy Guaranteed: Zero PII captured, salted pseudonyms, k=10 suppression, Laplace DP (epsilon &lt;= 1.0).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Operations Protected: 100% claims availability during simulated catastrophic analytics failures.</a:t>
            </a:r>
          </a:p>
          <a:p>
            <a:pPr>
              <a:spcAft>
                <a:spcPts val="1400"/>
              </a:spcAft>
              <a:defRPr sz="1600">
                <a:solidFill>
                  <a:srgbClr val="1A2530"/>
                </a:solidFill>
                <a:latin typeface="Calibri"/>
              </a:defRPr>
            </a:pPr>
            <a:r>
              <a:t>•   Complete Deliverable: 40/40 Automated Pytest Tests Passed, 10 Documentation Files, Live Interactive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Slide 24 of 24  |  Insurance Privacy Journey Analytics Platform  |  Confidential &amp; Proprietary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